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Rajdhani SemiBold"/>
      <p:regular r:id="rId18"/>
      <p:bold r:id="rId19"/>
    </p:embeddedFont>
    <p:embeddedFont>
      <p:font typeface="Roboto Mono"/>
      <p:regular r:id="rId20"/>
      <p:bold r:id="rId21"/>
      <p:italic r:id="rId22"/>
      <p:boldItalic r:id="rId23"/>
    </p:embeddedFont>
    <p:embeddedFont>
      <p:font typeface="Rajdhani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22" Type="http://schemas.openxmlformats.org/officeDocument/2006/relationships/font" Target="fonts/RobotoMono-italic.fntdata"/><Relationship Id="rId21" Type="http://schemas.openxmlformats.org/officeDocument/2006/relationships/font" Target="fonts/RobotoMono-bold.fntdata"/><Relationship Id="rId24" Type="http://schemas.openxmlformats.org/officeDocument/2006/relationships/font" Target="fonts/Rajdhani-regular.fntdata"/><Relationship Id="rId23" Type="http://schemas.openxmlformats.org/officeDocument/2006/relationships/font" Target="fonts/RobotoMon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Rajdhani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jdhaniSemiBold-bold.fntdata"/><Relationship Id="rId18" Type="http://schemas.openxmlformats.org/officeDocument/2006/relationships/font" Target="fonts/Rajdhani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36.jp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11" Type="http://schemas.openxmlformats.org/officeDocument/2006/relationships/image" Target="../media/image10.png"/><Relationship Id="rId10" Type="http://schemas.openxmlformats.org/officeDocument/2006/relationships/image" Target="../media/image11.png"/><Relationship Id="rId9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34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3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24.png"/><Relationship Id="rId5" Type="http://schemas.openxmlformats.org/officeDocument/2006/relationships/image" Target="../media/image32.png"/><Relationship Id="rId6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3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Relationship Id="rId5" Type="http://schemas.openxmlformats.org/officeDocument/2006/relationships/image" Target="../media/image27.png"/><Relationship Id="rId6" Type="http://schemas.openxmlformats.org/officeDocument/2006/relationships/image" Target="../media/image23.png"/><Relationship Id="rId7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31.pn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29.png"/><Relationship Id="rId5" Type="http://schemas.openxmlformats.org/officeDocument/2006/relationships/image" Target="../media/image25.png"/><Relationship Id="rId6" Type="http://schemas.openxmlformats.org/officeDocument/2006/relationships/image" Target="../media/image28.png"/><Relationship Id="rId7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hyperlink" Target="http://drive.google.com/file/d/1bFGIAQLBiK85SAE_0PTcRYYJrwB-18jI/view" TargetMode="External"/><Relationship Id="rId5" Type="http://schemas.openxmlformats.org/officeDocument/2006/relationships/image" Target="../media/image3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00500" y="3576637"/>
            <a:ext cx="4191000" cy="170869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1572666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FPV RC CAR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2601366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18CF8"/>
                </a:solidFill>
                <a:latin typeface="Roboto Mono"/>
                <a:ea typeface="Roboto Mono"/>
                <a:cs typeface="Roboto Mono"/>
                <a:sym typeface="Roboto Mono"/>
              </a:rPr>
              <a:t>WiFi Controlled Robot with Live Video Stream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000500" y="3948112"/>
            <a:ext cx="4191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Edgar Gutierrez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000500" y="4393852"/>
            <a:ext cx="4191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ECE 528L - Robotics and Embedded Systems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000500" y="4839592"/>
            <a:ext cx="4191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Instructor: Aaron Nanas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0399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8BDF8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PROJECT OBJECTIVE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571500"/>
            <a:ext cx="47625" cy="50289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1942207"/>
            <a:ext cx="5550693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18CF8"/>
                </a:solidFill>
                <a:latin typeface="Rajdhani"/>
                <a:ea typeface="Rajdhani"/>
                <a:cs typeface="Rajdhani"/>
                <a:sym typeface="Rajdhani"/>
              </a:rPr>
              <a:t>GOAL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2406997"/>
            <a:ext cx="528637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To design and implement a First-Person View (FPV) Remote-Controlled Car that integrates embedded systems concepts for motor control, wireless communication, and real-time video transmission.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3675608"/>
            <a:ext cx="5550693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18CF8"/>
                </a:solidFill>
                <a:latin typeface="Rajdhani"/>
                <a:ea typeface="Rajdhani"/>
                <a:cs typeface="Rajdhani"/>
                <a:sym typeface="Rajdhani"/>
              </a:rPr>
              <a:t>KEY FEATURES</a:t>
            </a:r>
            <a:endParaRPr/>
          </a:p>
        </p:txBody>
      </p:sp>
      <p:pic>
        <p:nvPicPr>
          <p:cNvPr id="102" name="Google Shape;102;p14" title="20251209_154026.jpg"/>
          <p:cNvPicPr preferRelativeResize="0"/>
          <p:nvPr/>
        </p:nvPicPr>
        <p:blipFill rotWithShape="1">
          <a:blip r:embed="rId5">
            <a:alphaModFix/>
          </a:blip>
          <a:srcRect b="7892" l="1166" r="2429" t="11657"/>
          <a:stretch/>
        </p:blipFill>
        <p:spPr>
          <a:xfrm>
            <a:off x="6334125" y="487687"/>
            <a:ext cx="5286374" cy="5882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857250" y="4121348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Real-time MJPEG Video Streaming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57250" y="4538513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Browser-based Wireless Control (WiFi)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57250" y="4955678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PWM Motor Speed Control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57250" y="5372844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Low-latency Response</a:t>
            </a:r>
            <a:endParaRPr/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2134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3851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95567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372844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98377"/>
            <a:ext cx="2759124" cy="27449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9374" y="2498377"/>
            <a:ext cx="2759124" cy="27449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61524" y="2498377"/>
            <a:ext cx="2759124" cy="274498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8BDF8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SYSTEM ARCHITECTURE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71500" y="571500"/>
            <a:ext cx="47625" cy="50289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812560" y="3488977"/>
            <a:ext cx="2277003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18CF8"/>
                </a:solidFill>
                <a:latin typeface="Rajdhani"/>
                <a:ea typeface="Rajdhani"/>
                <a:cs typeface="Rajdhani"/>
                <a:sym typeface="Rajdhani"/>
              </a:rPr>
              <a:t>CLIENT (PHONE)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66775" y="3953767"/>
            <a:ext cx="2168574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Browser Interface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 Joystick Input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 Video Receiver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02124" y="375657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5000435" y="3488977"/>
            <a:ext cx="2277003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18CF8"/>
                </a:solidFill>
                <a:latin typeface="Rajdhani"/>
                <a:ea typeface="Rajdhani"/>
                <a:cs typeface="Rajdhani"/>
                <a:sym typeface="Rajdhani"/>
              </a:rPr>
              <a:t>XIAO ESP32S3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5054649" y="3953767"/>
            <a:ext cx="2168574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WiFi Access Point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 Web Server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 Camera Processing</a:t>
            </a:r>
            <a:endParaRPr/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89999" y="375657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9102584" y="3488977"/>
            <a:ext cx="2277003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18CF8"/>
                </a:solidFill>
                <a:latin typeface="Rajdhani"/>
                <a:ea typeface="Rajdhani"/>
                <a:cs typeface="Rajdhani"/>
                <a:sym typeface="Rajdhani"/>
              </a:rPr>
              <a:t>HARDWARE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9156799" y="3953767"/>
            <a:ext cx="2168574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Motor Drivers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 DC Motors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 Servo Steering</a:t>
            </a:r>
            <a:endParaRPr/>
          </a:p>
        </p:txBody>
      </p:sp>
      <p:pic>
        <p:nvPicPr>
          <p:cNvPr descr="image.png" id="129" name="Google Shape;12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808112" y="2860327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48362" y="286032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050512" y="2860327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16484"/>
            <a:ext cx="34925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16484"/>
            <a:ext cx="34925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16484"/>
            <a:ext cx="349254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8BDF8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HARDWARE COMPONENTS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571500" y="571500"/>
            <a:ext cx="47625" cy="50289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571500" y="4640609"/>
            <a:ext cx="366717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18CF8"/>
                </a:solidFill>
                <a:latin typeface="Rajdhani"/>
                <a:ea typeface="Rajdhani"/>
                <a:cs typeface="Rajdhani"/>
                <a:sym typeface="Rajdhani"/>
              </a:rPr>
              <a:t>CONTROLLER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571500" y="5229225"/>
            <a:ext cx="3492549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Roboto Mono"/>
                <a:ea typeface="Roboto Mono"/>
                <a:cs typeface="Roboto Mono"/>
                <a:sym typeface="Roboto Mono"/>
              </a:rPr>
              <a:t>Seeed Studio XIAO ESP32S3 Sense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4349799" y="4640609"/>
            <a:ext cx="366717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18CF8"/>
                </a:solidFill>
                <a:latin typeface="Rajdhani"/>
                <a:ea typeface="Rajdhani"/>
                <a:cs typeface="Rajdhani"/>
                <a:sym typeface="Rajdhani"/>
              </a:rPr>
              <a:t>CHASSIS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4349799" y="5229225"/>
            <a:ext cx="3492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1F5F9"/>
                </a:solidFill>
                <a:latin typeface="Roboto Mono"/>
                <a:ea typeface="Roboto Mono"/>
                <a:cs typeface="Roboto Mono"/>
                <a:sym typeface="Roboto Mono"/>
              </a:rPr>
              <a:t>Amazon RC Car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128099" y="4640609"/>
            <a:ext cx="366717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18CF8"/>
                </a:solidFill>
                <a:latin typeface="Rajdhani"/>
                <a:ea typeface="Rajdhani"/>
                <a:cs typeface="Rajdhani"/>
                <a:sym typeface="Rajdhani"/>
              </a:rPr>
              <a:t>ACTUATION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8128099" y="5229225"/>
            <a:ext cx="3492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1F5F9"/>
                </a:solidFill>
                <a:latin typeface="Roboto Mono"/>
                <a:ea typeface="Roboto Mono"/>
                <a:cs typeface="Roboto Mono"/>
                <a:sym typeface="Roboto Mono"/>
              </a:rPr>
              <a:t>Motor Drivers:</a:t>
            </a:r>
            <a:r>
              <a:rPr b="0" i="0" lang="en-US" sz="1200" u="none" cap="none" strike="noStrike">
                <a:solidFill>
                  <a:srgbClr val="F1F5F9"/>
                </a:solidFill>
                <a:latin typeface="Roboto Mono"/>
                <a:ea typeface="Roboto Mono"/>
                <a:cs typeface="Roboto Mono"/>
                <a:sym typeface="Roboto Mono"/>
              </a:rPr>
              <a:t>DRV8833 / </a:t>
            </a:r>
            <a:r>
              <a:rPr lang="en-US" sz="1200">
                <a:solidFill>
                  <a:srgbClr val="F1F5F9"/>
                </a:solidFill>
                <a:latin typeface="Roboto Mono"/>
                <a:ea typeface="Roboto Mono"/>
                <a:cs typeface="Roboto Mono"/>
                <a:sym typeface="Roboto Mono"/>
              </a:rPr>
              <a:t>BTS7960</a:t>
            </a:r>
            <a:endParaRPr/>
          </a:p>
        </p:txBody>
      </p:sp>
      <p:pic>
        <p:nvPicPr>
          <p:cNvPr descr="image.png" id="148" name="Google Shape;14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2126009"/>
            <a:ext cx="3473499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title="20251207_153126.jpg"/>
          <p:cNvPicPr preferRelativeResize="0"/>
          <p:nvPr/>
        </p:nvPicPr>
        <p:blipFill rotWithShape="1">
          <a:blip r:embed="rId8">
            <a:alphaModFix/>
          </a:blip>
          <a:srcRect b="14625" l="0" r="0" t="17820"/>
          <a:stretch/>
        </p:blipFill>
        <p:spPr>
          <a:xfrm>
            <a:off x="4784825" y="2126000"/>
            <a:ext cx="2622501" cy="2362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563125" y="2175520"/>
            <a:ext cx="2622500" cy="22631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8BDF8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PINOUT CONFIGURATION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571500" y="571500"/>
            <a:ext cx="47625" cy="50289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571500" y="2512665"/>
            <a:ext cx="135031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1921817" y="2512665"/>
            <a:ext cx="10810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3002905" y="2512665"/>
            <a:ext cx="114478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4147691" y="2512665"/>
            <a:ext cx="171018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571500" y="3356520"/>
            <a:ext cx="135031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1921817" y="3356520"/>
            <a:ext cx="10810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3002905" y="3356520"/>
            <a:ext cx="114478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4147691" y="3356520"/>
            <a:ext cx="171018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571500" y="4200376"/>
            <a:ext cx="135031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1921817" y="4200376"/>
            <a:ext cx="10810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3002905" y="4200376"/>
            <a:ext cx="114478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4147691" y="4200376"/>
            <a:ext cx="171018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571500" y="4769941"/>
            <a:ext cx="135031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1921817" y="4769941"/>
            <a:ext cx="10810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3002905" y="4769941"/>
            <a:ext cx="114478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4147691" y="4769941"/>
            <a:ext cx="171018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571500" y="5613796"/>
            <a:ext cx="135031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1921817" y="5613796"/>
            <a:ext cx="10810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3002905" y="5613796"/>
            <a:ext cx="114478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575" y="1253875"/>
            <a:ext cx="4534001" cy="4145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26525" y="1289525"/>
            <a:ext cx="3849274" cy="4110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80975" y="1253875"/>
            <a:ext cx="3187876" cy="4145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8BDF8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Code</a:t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571500" y="571500"/>
            <a:ext cx="47700" cy="502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9825" y="1074299"/>
            <a:ext cx="9863675" cy="5447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8BDF8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WEB CONTROL INTERFACE</a:t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571500" y="571500"/>
            <a:ext cx="47625" cy="50289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6334125" y="2099369"/>
            <a:ext cx="5550693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18CF8"/>
                </a:solidFill>
                <a:latin typeface="Rajdhani"/>
                <a:ea typeface="Rajdhani"/>
                <a:cs typeface="Rajdhani"/>
                <a:sym typeface="Rajdhani"/>
              </a:rPr>
              <a:t>TOUCH INTERACTION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6334125" y="2564159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The interface is built using HTML5 &amp; JavaScript, optimized for mobile touchscreens.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619875" y="3284190"/>
            <a:ext cx="50006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Dual Joysticks: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 Left stick for Throttle (Forward/Back), Right stick for Steering (Left/Right).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6619875" y="4249935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Speed Slider: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 Real-time adjustment of maximum PWM duty cycle (100-255).</a:t>
            </a:r>
            <a:endParaRPr/>
          </a:p>
        </p:txBody>
      </p:sp>
      <p:pic>
        <p:nvPicPr>
          <p:cNvPr descr="image.png" id="199" name="Google Shape;19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28419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424993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title="Screenshot_20251209_163115_Gallery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82001" y="1183550"/>
            <a:ext cx="3290000" cy="523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31702"/>
            <a:ext cx="5286375" cy="28783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470695"/>
            <a:ext cx="5286375" cy="28002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4186088"/>
            <a:ext cx="4695825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4508896"/>
            <a:ext cx="4695825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8BDF8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LATENCY OPTIMIZATION</a:t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571500" y="571500"/>
            <a:ext cx="47625" cy="50289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749379" y="2726977"/>
            <a:ext cx="4930616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18CF8"/>
                </a:solidFill>
                <a:latin typeface="Rajdhani"/>
                <a:ea typeface="Rajdhani"/>
                <a:cs typeface="Rajdhani"/>
                <a:sym typeface="Rajdhani"/>
              </a:rPr>
              <a:t>FRAME CONFIGURATION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866775" y="3191767"/>
            <a:ext cx="46958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To ensure low latency over the SoftAP network, the camera is configured for speed over resolution.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6512004" y="2765970"/>
            <a:ext cx="4930616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18CF8"/>
                </a:solidFill>
                <a:latin typeface="Rajdhani"/>
                <a:ea typeface="Rajdhani"/>
                <a:cs typeface="Rajdhani"/>
                <a:sym typeface="Rajdhani"/>
              </a:rPr>
              <a:t>GRAB MODE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6629400" y="3230760"/>
            <a:ext cx="4695825" cy="1106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The CAMERA_GRAB_LATEST mode is crucial. It discards older buffered frames, ensuring the user always sees the most current reality, reducing "video lag."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96617"/>
            <a:ext cx="5286375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8BDF8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MOTOR CONTROL LOGIC</a:t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571500" y="571500"/>
            <a:ext cx="47625" cy="50289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6334125" y="2582316"/>
            <a:ext cx="5550693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18CF8"/>
                </a:solidFill>
                <a:latin typeface="Rajdhani"/>
                <a:ea typeface="Rajdhani"/>
                <a:cs typeface="Rajdhani"/>
                <a:sym typeface="Rajdhani"/>
              </a:rPr>
              <a:t>DIFFERENTIAL &amp; STEERING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6334125" y="3047107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The system supports independent control of drive and steering motors.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857250" y="2626072"/>
            <a:ext cx="5000625" cy="283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PWM Implementation: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 Uses ESP32 ledc peripherals.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857250" y="3052762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Frequency: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 1000 Hz (Standard for DC Motors).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857250" y="3469927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Resolution: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 8-bit (0-255 values).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6619875" y="3767137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Drive Motors: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 Controlled by variable speed (slider * joystick input).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6619875" y="4458592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Steering: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 Uses max torque (255) to ensure wheels turn fully against friction.</a:t>
            </a:r>
            <a:endParaRPr/>
          </a:p>
        </p:txBody>
      </p:sp>
      <p:pic>
        <p:nvPicPr>
          <p:cNvPr descr="image.png" id="232" name="Google Shape;23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2607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05276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6992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76713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4458592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0" y="3889771"/>
            <a:ext cx="2857500" cy="20154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7250" y="3889771"/>
            <a:ext cx="2857500" cy="20154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0" y="3889771"/>
            <a:ext cx="2857500" cy="201543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2"/>
          <p:cNvSpPr txBox="1"/>
          <p:nvPr/>
        </p:nvSpPr>
        <p:spPr>
          <a:xfrm>
            <a:off x="295275" y="952797"/>
            <a:ext cx="11601450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CONCLUSION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2286000" y="1585168"/>
            <a:ext cx="7620000" cy="1828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The project successfully demonstrates a functional FPV RC car. By leveraging the dual-core capabilities of the ESP32S3 and optimizing the video buffer pipeline, we achieved a responsive, low-latency control system suitable for real-time navigation.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1762601" y="4880371"/>
            <a:ext cx="238029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18CF8"/>
                </a:solidFill>
                <a:latin typeface="Rajdhani"/>
                <a:ea typeface="Rajdhani"/>
                <a:cs typeface="Rajdhani"/>
                <a:sym typeface="Rajdhani"/>
              </a:rPr>
              <a:t>WIFI AP STABLE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4905851" y="4880371"/>
            <a:ext cx="2380297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18CF8"/>
                </a:solidFill>
                <a:latin typeface="Rajdhani"/>
                <a:ea typeface="Rajdhani"/>
                <a:cs typeface="Rajdhani"/>
                <a:sym typeface="Rajdhani"/>
              </a:rPr>
              <a:t>LOW LATENCY STREAM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8049101" y="4880371"/>
            <a:ext cx="238029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18CF8"/>
                </a:solidFill>
                <a:latin typeface="Rajdhani"/>
                <a:ea typeface="Rajdhani"/>
                <a:cs typeface="Rajdhani"/>
                <a:sym typeface="Rajdhani"/>
              </a:rPr>
              <a:t>SMOOTH CONTROL</a:t>
            </a:r>
            <a:endParaRPr/>
          </a:p>
        </p:txBody>
      </p:sp>
      <p:pic>
        <p:nvPicPr>
          <p:cNvPr descr="image.png" id="250" name="Google Shape;25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86062" y="4251721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81687" y="4251721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01125" y="4251721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8BDF8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Demo</a:t>
            </a:r>
            <a:endParaRPr/>
          </a:p>
        </p:txBody>
      </p:sp>
      <p:sp>
        <p:nvSpPr>
          <p:cNvPr id="259" name="Google Shape;259;p23"/>
          <p:cNvSpPr/>
          <p:nvPr/>
        </p:nvSpPr>
        <p:spPr>
          <a:xfrm>
            <a:off x="571500" y="571500"/>
            <a:ext cx="47625" cy="50289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23" title="FPV_RC_1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6400" y="1150275"/>
            <a:ext cx="9673176" cy="544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4"/>
          <p:cNvSpPr txBox="1"/>
          <p:nvPr/>
        </p:nvSpPr>
        <p:spPr>
          <a:xfrm>
            <a:off x="295275" y="2617440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QUESTIONS?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571500" y="364614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18CF8"/>
                </a:solidFill>
                <a:latin typeface="Roboto Mono"/>
                <a:ea typeface="Roboto Mono"/>
                <a:cs typeface="Roboto Mono"/>
                <a:sym typeface="Roboto Mono"/>
              </a:rPr>
              <a:t>Thank you for your attention.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